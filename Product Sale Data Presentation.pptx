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Oswald"/>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hayvUfJ995LmODtgMKE07i0N9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regular.fntdata"/><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Oswald-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948bc3b0446aec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h948bc3b0446ae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h948bc3b0446aec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h948bc3b0446ae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h948bc3b0446aec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h948bc3b0446aec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h948bc3b0446aeca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h948bc3b0446aec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948bc3b0446aeca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h948bc3b0446aec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h948bc3b0446aeca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h948bc3b0446aec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948bc3b0446aeca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948bc3b0446aec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ebd14b32e612767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hebd14b32e612767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948bc3b0446aeca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h948bc3b0446aec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948bc3b0446aeca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h948bc3b0446aec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948bc3b0446aeca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h948bc3b0446aec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h948bc3b0446aeca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h948bc3b0446aec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h948bc3b0446aeca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h948bc3b0446aec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h948bc3b0446aeca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h948bc3b0446aec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5183188" y="987425"/>
            <a:ext cx="6172200" cy="4873625"/>
          </a:xfrm>
          <a:prstGeom prst="rect">
            <a:avLst/>
          </a:prstGeom>
          <a:noFill/>
          <a:ln>
            <a:noFill/>
          </a:ln>
        </p:spPr>
      </p:sp>
      <p:sp>
        <p:nvSpPr>
          <p:cNvPr id="64" name="Google Shape;64;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 name="Shape 86"/>
        <p:cNvGrpSpPr/>
        <p:nvPr/>
      </p:nvGrpSpPr>
      <p:grpSpPr>
        <a:xfrm>
          <a:off x="0" y="0"/>
          <a:ext cx="0" cy="0"/>
          <a:chOff x="0" y="0"/>
          <a:chExt cx="0" cy="0"/>
        </a:xfrm>
      </p:grpSpPr>
      <p:sp>
        <p:nvSpPr>
          <p:cNvPr id="87" name="Google Shape;87;hebd14b32e612767_2_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hebd14b32e612767_2_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9" name="Google Shape;89;hebd14b32e612767_2_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hebd14b32e612767_2_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hebd14b32e612767_2_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sp>
        <p:nvSpPr>
          <p:cNvPr id="93" name="Google Shape;93;hebd14b32e612767_2_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hebd14b32e612767_2_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hebd14b32e612767_2_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hebd14b32e612767_2_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hebd14b32e612767_2_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8" name="Shape 98"/>
        <p:cNvGrpSpPr/>
        <p:nvPr/>
      </p:nvGrpSpPr>
      <p:grpSpPr>
        <a:xfrm>
          <a:off x="0" y="0"/>
          <a:ext cx="0" cy="0"/>
          <a:chOff x="0" y="0"/>
          <a:chExt cx="0" cy="0"/>
        </a:xfrm>
      </p:grpSpPr>
      <p:sp>
        <p:nvSpPr>
          <p:cNvPr id="99" name="Google Shape;99;hebd14b32e612767_2_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hebd14b32e612767_2_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1" name="Google Shape;101;hebd14b32e612767_2_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hebd14b32e612767_2_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hebd14b32e612767_2_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4" name="Shape 104"/>
        <p:cNvGrpSpPr/>
        <p:nvPr/>
      </p:nvGrpSpPr>
      <p:grpSpPr>
        <a:xfrm>
          <a:off x="0" y="0"/>
          <a:ext cx="0" cy="0"/>
          <a:chOff x="0" y="0"/>
          <a:chExt cx="0" cy="0"/>
        </a:xfrm>
      </p:grpSpPr>
      <p:sp>
        <p:nvSpPr>
          <p:cNvPr id="105" name="Google Shape;105;hebd14b32e612767_2_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hebd14b32e612767_2_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hebd14b32e612767_2_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hebd14b32e612767_2_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hebd14b32e612767_2_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hebd14b32e612767_2_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1" name="Shape 111"/>
        <p:cNvGrpSpPr/>
        <p:nvPr/>
      </p:nvGrpSpPr>
      <p:grpSpPr>
        <a:xfrm>
          <a:off x="0" y="0"/>
          <a:ext cx="0" cy="0"/>
          <a:chOff x="0" y="0"/>
          <a:chExt cx="0" cy="0"/>
        </a:xfrm>
      </p:grpSpPr>
      <p:sp>
        <p:nvSpPr>
          <p:cNvPr id="112" name="Google Shape;112;hebd14b32e612767_2_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hebd14b32e612767_2_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4" name="Google Shape;114;hebd14b32e612767_2_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hebd14b32e612767_2_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6" name="Google Shape;116;hebd14b32e612767_2_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hebd14b32e612767_2_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hebd14b32e612767_2_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hebd14b32e612767_2_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sp>
        <p:nvSpPr>
          <p:cNvPr id="121" name="Google Shape;121;hebd14b32e612767_2_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hebd14b32e612767_2_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ebd14b32e612767_2_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hebd14b32e612767_2_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hebd14b32e612767_2_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ebd14b32e612767_2_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ebd14b32e612767_2_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ebd14b32e612767_2_4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ebd14b32e612767_2_4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2" name="Google Shape;132;hebd14b32e612767_2_4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3" name="Google Shape;133;hebd14b32e612767_2_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ebd14b32e612767_2_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ebd14b32e612767_2_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ebd14b32e612767_2_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ebd14b32e612767_2_56"/>
          <p:cNvSpPr/>
          <p:nvPr>
            <p:ph idx="2" type="pic"/>
          </p:nvPr>
        </p:nvSpPr>
        <p:spPr>
          <a:xfrm>
            <a:off x="5183188" y="987425"/>
            <a:ext cx="6172200" cy="4873625"/>
          </a:xfrm>
          <a:prstGeom prst="rect">
            <a:avLst/>
          </a:prstGeom>
          <a:noFill/>
          <a:ln>
            <a:noFill/>
          </a:ln>
        </p:spPr>
      </p:sp>
      <p:sp>
        <p:nvSpPr>
          <p:cNvPr id="139" name="Google Shape;139;hebd14b32e612767_2_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0" name="Google Shape;140;hebd14b32e612767_2_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ebd14b32e612767_2_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ebd14b32e612767_2_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ebd14b32e612767_2_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ebd14b32e612767_2_6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hebd14b32e612767_2_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ebd14b32e612767_2_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ebd14b32e612767_2_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ebd14b32e612767_2_6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ebd14b32e612767_2_6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hebd14b32e612767_2_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ebd14b32e612767_2_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ebd14b32e612767_2_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ebd14b32e612767_2_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ebd14b32e612767_2_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hebd14b32e612767_2_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hebd14b32e612767_2_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hebd14b32e612767_2_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8" name="Shape 158"/>
        <p:cNvGrpSpPr/>
        <p:nvPr/>
      </p:nvGrpSpPr>
      <p:grpSpPr>
        <a:xfrm>
          <a:off x="0" y="0"/>
          <a:ext cx="0" cy="0"/>
          <a:chOff x="0" y="0"/>
          <a:chExt cx="0" cy="0"/>
        </a:xfrm>
      </p:grpSpPr>
      <p:sp>
        <p:nvSpPr>
          <p:cNvPr id="159" name="Google Shape;159;p1"/>
          <p:cNvSpPr txBox="1"/>
          <p:nvPr>
            <p:ph type="ctrTitle"/>
          </p:nvPr>
        </p:nvSpPr>
        <p:spPr>
          <a:xfrm>
            <a:off x="1524000" y="1762438"/>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solidFill>
                  <a:schemeClr val="lt1"/>
                </a:solidFill>
                <a:latin typeface="Times New Roman"/>
                <a:ea typeface="Times New Roman"/>
                <a:cs typeface="Times New Roman"/>
                <a:sym typeface="Times New Roman"/>
              </a:rPr>
              <a:t>Product Sale Data Presentation</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3" name="Shape 163"/>
        <p:cNvGrpSpPr/>
        <p:nvPr/>
      </p:nvGrpSpPr>
      <p:grpSpPr>
        <a:xfrm>
          <a:off x="0" y="0"/>
          <a:ext cx="0" cy="0"/>
          <a:chOff x="0" y="0"/>
          <a:chExt cx="0" cy="0"/>
        </a:xfrm>
      </p:grpSpPr>
      <p:pic>
        <p:nvPicPr>
          <p:cNvPr descr="1. Monthly Combined Revenue Trend with Moving Average" id="164" name="Google Shape;164;p2"/>
          <p:cNvPicPr preferRelativeResize="0"/>
          <p:nvPr/>
        </p:nvPicPr>
        <p:blipFill rotWithShape="1">
          <a:blip r:embed="rId3">
            <a:alphaModFix/>
          </a:blip>
          <a:srcRect b="0" l="0" r="0" t="0"/>
          <a:stretch/>
        </p:blipFill>
        <p:spPr>
          <a:xfrm>
            <a:off x="0" y="51648"/>
            <a:ext cx="12192000" cy="675470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8" name="Shape 168"/>
        <p:cNvGrpSpPr/>
        <p:nvPr/>
      </p:nvGrpSpPr>
      <p:grpSpPr>
        <a:xfrm>
          <a:off x="0" y="0"/>
          <a:ext cx="0" cy="0"/>
          <a:chOff x="0" y="0"/>
          <a:chExt cx="0" cy="0"/>
        </a:xfrm>
      </p:grpSpPr>
      <p:sp>
        <p:nvSpPr>
          <p:cNvPr id="169" name="Google Shape;169;h948bc3b0446aeca_0_0"/>
          <p:cNvSpPr txBox="1"/>
          <p:nvPr/>
        </p:nvSpPr>
        <p:spPr>
          <a:xfrm>
            <a:off x="0" y="0"/>
            <a:ext cx="12192000" cy="68133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Long-Term Trajectory Stability:</a:t>
            </a:r>
            <a:r>
              <a:rPr lang="en-US" sz="2700">
                <a:solidFill>
                  <a:schemeClr val="lt2"/>
                </a:solidFill>
                <a:latin typeface="Oswald"/>
                <a:ea typeface="Oswald"/>
                <a:cs typeface="Oswald"/>
                <a:sym typeface="Oswald"/>
              </a:rPr>
              <a:t> Following an initial ramp-up in 2010, baseline monthly revenue remains highly stable over a 12-year period, hovering consistently between 1,400K and 1,700K.</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High Short-Term Volatility:</a:t>
            </a:r>
            <a:r>
              <a:rPr lang="en-US" sz="2700">
                <a:solidFill>
                  <a:schemeClr val="lt2"/>
                </a:solidFill>
                <a:latin typeface="Oswald"/>
                <a:ea typeface="Oswald"/>
                <a:cs typeface="Oswald"/>
                <a:sym typeface="Oswald"/>
              </a:rPr>
              <a:t> The raw monthly revenue (green line) exhibits frequent, sharp zig-zag fluctuations from month to month across all recorded years.</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Smoothed Moving Average Trend:</a:t>
            </a:r>
            <a:r>
              <a:rPr lang="en-US" sz="2700">
                <a:solidFill>
                  <a:schemeClr val="lt2"/>
                </a:solidFill>
                <a:latin typeface="Oswald"/>
                <a:ea typeface="Oswald"/>
                <a:cs typeface="Oswald"/>
                <a:sym typeface="Oswald"/>
              </a:rPr>
              <a:t> The moving average (red dotted line) smooths out monthly spikes, revealing cyclical peak periods near 1,750K (notably in 2011, 2015, 2016, and 2018) and occasional pullbacks near 1,500K (such as in 2015).</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Notable Downward Troughs:</a:t>
            </a:r>
            <a:r>
              <a:rPr lang="en-US" sz="2700">
                <a:solidFill>
                  <a:schemeClr val="lt2"/>
                </a:solidFill>
                <a:latin typeface="Oswald"/>
                <a:ea typeface="Oswald"/>
                <a:cs typeface="Oswald"/>
                <a:sym typeface="Oswald"/>
              </a:rPr>
              <a:t> Significant negative monthly spikes occur periodically, dropping revenue temporarily to around 1,350K–1,400K (visible in 2013, late 2014/2015, 2017, and 2020).</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Data Boundary Anomaly:</a:t>
            </a:r>
            <a:r>
              <a:rPr lang="en-US" sz="2700">
                <a:solidFill>
                  <a:schemeClr val="lt2"/>
                </a:solidFill>
                <a:latin typeface="Oswald"/>
                <a:ea typeface="Oswald"/>
                <a:cs typeface="Oswald"/>
                <a:sym typeface="Oswald"/>
              </a:rPr>
              <a:t> Sharp drops to near zero at the extreme left (2010 start) and right (2023 end) edges indicate incomplete tracking periods at dataset boundaries rather than actual business performance loss.</a:t>
            </a:r>
            <a:endParaRPr sz="2700">
              <a:solidFill>
                <a:schemeClr val="lt2"/>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3" name="Shape 173"/>
        <p:cNvGrpSpPr/>
        <p:nvPr/>
      </p:nvGrpSpPr>
      <p:grpSpPr>
        <a:xfrm>
          <a:off x="0" y="0"/>
          <a:ext cx="0" cy="0"/>
          <a:chOff x="0" y="0"/>
          <a:chExt cx="0" cy="0"/>
        </a:xfrm>
      </p:grpSpPr>
      <p:pic>
        <p:nvPicPr>
          <p:cNvPr descr="2. Product Revenue Share Over Time (Stacked Area Chart)" id="174" name="Google Shape;174;p3"/>
          <p:cNvPicPr preferRelativeResize="0"/>
          <p:nvPr/>
        </p:nvPicPr>
        <p:blipFill rotWithShape="1">
          <a:blip r:embed="rId3">
            <a:alphaModFix/>
          </a:blip>
          <a:srcRect b="0" l="0" r="0" t="0"/>
          <a:stretch/>
        </p:blipFill>
        <p:spPr>
          <a:xfrm>
            <a:off x="0" y="26122"/>
            <a:ext cx="12192000" cy="680575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8" name="Shape 178"/>
        <p:cNvGrpSpPr/>
        <p:nvPr/>
      </p:nvGrpSpPr>
      <p:grpSpPr>
        <a:xfrm>
          <a:off x="0" y="0"/>
          <a:ext cx="0" cy="0"/>
          <a:chOff x="0" y="0"/>
          <a:chExt cx="0" cy="0"/>
        </a:xfrm>
      </p:grpSpPr>
      <p:sp>
        <p:nvSpPr>
          <p:cNvPr id="179" name="Google Shape;179;h948bc3b0446aeca_0_5"/>
          <p:cNvSpPr txBox="1"/>
          <p:nvPr/>
        </p:nvSpPr>
        <p:spPr>
          <a:xfrm>
            <a:off x="0" y="0"/>
            <a:ext cx="12192000" cy="6791100"/>
          </a:xfrm>
          <a:prstGeom prst="rect">
            <a:avLst/>
          </a:prstGeom>
          <a:noFill/>
          <a:ln>
            <a:noFill/>
          </a:ln>
        </p:spPr>
        <p:txBody>
          <a:bodyPr anchorCtr="0" anchor="t" bIns="91425" lIns="91425" spcFirstLastPara="1" rIns="91425" wrap="square" tIns="91425">
            <a:spAutoFit/>
          </a:bodyPr>
          <a:lstStyle/>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Core Revenue Driver (P1):</a:t>
            </a:r>
            <a:r>
              <a:rPr lang="en-US" sz="2900">
                <a:solidFill>
                  <a:schemeClr val="lt2"/>
                </a:solidFill>
                <a:latin typeface="Oswald"/>
                <a:ea typeface="Oswald"/>
                <a:cs typeface="Oswald"/>
                <a:sym typeface="Oswald"/>
              </a:rPr>
              <a:t> Total Revenue P1 (darkest bottom layer) generates the overwhelming majority of total business revenue, consistently contributing around 650K–800K per month.</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Balanced Secondary &amp; Tertiary Contributions (P2 &amp; P3):</a:t>
            </a:r>
            <a:r>
              <a:rPr lang="en-US" sz="2900">
                <a:solidFill>
                  <a:schemeClr val="lt2"/>
                </a:solidFill>
                <a:latin typeface="Oswald"/>
                <a:ea typeface="Oswald"/>
                <a:cs typeface="Oswald"/>
                <a:sym typeface="Oswald"/>
              </a:rPr>
              <a:t> Total Revenue P2 and Total Revenue P3 form steady secondary layers, adding approximately 350K–400K each to the total stacked revenue over time.</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Minority Share (P4):</a:t>
            </a:r>
            <a:r>
              <a:rPr lang="en-US" sz="2900">
                <a:solidFill>
                  <a:schemeClr val="lt2"/>
                </a:solidFill>
                <a:latin typeface="Oswald"/>
                <a:ea typeface="Oswald"/>
                <a:cs typeface="Oswald"/>
                <a:sym typeface="Oswald"/>
              </a:rPr>
              <a:t> Total Revenue P4 (topmost layer) represents the smallest revenue fraction, contributing a narrower slice of around 200K–300K per period.</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Product Mix Stability:</a:t>
            </a:r>
            <a:r>
              <a:rPr lang="en-US" sz="2900">
                <a:solidFill>
                  <a:schemeClr val="lt2"/>
                </a:solidFill>
                <a:latin typeface="Oswald"/>
                <a:ea typeface="Oswald"/>
                <a:cs typeface="Oswald"/>
                <a:sym typeface="Oswald"/>
              </a:rPr>
              <a:t> The relative thickness and proportion of each product's stacked band remain remarkably consistent across all years from 2010 through 2023, showing no major structural shifts or product displacement.</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Synchronized Volatility:</a:t>
            </a:r>
            <a:r>
              <a:rPr lang="en-US" sz="2900">
                <a:solidFill>
                  <a:schemeClr val="lt2"/>
                </a:solidFill>
                <a:latin typeface="Oswald"/>
                <a:ea typeface="Oswald"/>
                <a:cs typeface="Oswald"/>
                <a:sym typeface="Oswald"/>
              </a:rPr>
              <a:t> The jagged upper outline reflects overall monthly revenue spikes and dips, while the individual product boundaries move largely in parallel.</a:t>
            </a:r>
            <a:endParaRPr sz="2900">
              <a:solidFill>
                <a:schemeClr val="lt2"/>
              </a:solidFill>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3" name="Shape 183"/>
        <p:cNvGrpSpPr/>
        <p:nvPr/>
      </p:nvGrpSpPr>
      <p:grpSpPr>
        <a:xfrm>
          <a:off x="0" y="0"/>
          <a:ext cx="0" cy="0"/>
          <a:chOff x="0" y="0"/>
          <a:chExt cx="0" cy="0"/>
        </a:xfrm>
      </p:grpSpPr>
      <p:pic>
        <p:nvPicPr>
          <p:cNvPr descr="3. Period-over-Period Revenue Growth (MoM)" id="184" name="Google Shape;184;p4"/>
          <p:cNvPicPr preferRelativeResize="0"/>
          <p:nvPr/>
        </p:nvPicPr>
        <p:blipFill rotWithShape="1">
          <a:blip r:embed="rId3">
            <a:alphaModFix/>
          </a:blip>
          <a:srcRect b="0" l="0" r="0" t="0"/>
          <a:stretch/>
        </p:blipFill>
        <p:spPr>
          <a:xfrm>
            <a:off x="0" y="27142"/>
            <a:ext cx="12192000" cy="680371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8" name="Shape 188"/>
        <p:cNvGrpSpPr/>
        <p:nvPr/>
      </p:nvGrpSpPr>
      <p:grpSpPr>
        <a:xfrm>
          <a:off x="0" y="0"/>
          <a:ext cx="0" cy="0"/>
          <a:chOff x="0" y="0"/>
          <a:chExt cx="0" cy="0"/>
        </a:xfrm>
      </p:grpSpPr>
      <p:sp>
        <p:nvSpPr>
          <p:cNvPr id="189" name="Google Shape;189;h948bc3b0446aeca_0_10"/>
          <p:cNvSpPr txBox="1"/>
          <p:nvPr/>
        </p:nvSpPr>
        <p:spPr>
          <a:xfrm>
            <a:off x="0" y="0"/>
            <a:ext cx="12192000" cy="70188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Standard Monthly Growth Range:</a:t>
            </a:r>
            <a:r>
              <a:rPr lang="en-US" sz="3000">
                <a:solidFill>
                  <a:schemeClr val="lt2"/>
                </a:solidFill>
                <a:latin typeface="Oswald"/>
                <a:ea typeface="Oswald"/>
                <a:cs typeface="Oswald"/>
                <a:sym typeface="Oswald"/>
              </a:rPr>
              <a:t> Typical month-over-month (MoM) revenue changes fluctuate moderately within a predictable band of -18% to +25% across the entire 2010–2022 period.</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Cyclical Growth Spikes:</a:t>
            </a:r>
            <a:r>
              <a:rPr lang="en-US" sz="3000">
                <a:solidFill>
                  <a:schemeClr val="lt2"/>
                </a:solidFill>
                <a:latin typeface="Oswald"/>
                <a:ea typeface="Oswald"/>
                <a:cs typeface="Oswald"/>
                <a:sym typeface="Oswald"/>
              </a:rPr>
              <a:t> Positive MoM growth peaks (bright green bars) frequently hit +10% to +18%, with a notable surge reaching nearly +25% in early 2020.</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Moderate Monthly Contractions:</a:t>
            </a:r>
            <a:r>
              <a:rPr lang="en-US" sz="3000">
                <a:solidFill>
                  <a:schemeClr val="lt2"/>
                </a:solidFill>
                <a:latin typeface="Oswald"/>
                <a:ea typeface="Oswald"/>
                <a:cs typeface="Oswald"/>
                <a:sym typeface="Oswald"/>
              </a:rPr>
              <a:t> Retractions and monthly dips (red/pink bars) typically stay constrained between -5% and -18%.</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Extreme Outlier Initial Surge (2010):</a:t>
            </a:r>
            <a:r>
              <a:rPr lang="en-US" sz="3000">
                <a:solidFill>
                  <a:schemeClr val="lt2"/>
                </a:solidFill>
                <a:latin typeface="Oswald"/>
                <a:ea typeface="Oswald"/>
                <a:cs typeface="Oswald"/>
                <a:sym typeface="Oswald"/>
              </a:rPr>
              <a:t> A single massive growth spike of +68.3% occurs at the very start of the timeline in 2010 during initial business/data setup.</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Boundary Drop Outlier (2023):</a:t>
            </a:r>
            <a:r>
              <a:rPr lang="en-US" sz="3000">
                <a:solidFill>
                  <a:schemeClr val="lt2"/>
                </a:solidFill>
                <a:latin typeface="Oswald"/>
                <a:ea typeface="Oswald"/>
                <a:cs typeface="Oswald"/>
                <a:sym typeface="Oswald"/>
              </a:rPr>
              <a:t> An extreme negative drop of -90.9% occurs at the far right edge in 2023, representing incomplete tracking data at the end of the recording window.</a:t>
            </a:r>
            <a:endParaRPr sz="3000">
              <a:solidFill>
                <a:schemeClr val="lt2"/>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3" name="Shape 193"/>
        <p:cNvGrpSpPr/>
        <p:nvPr/>
      </p:nvGrpSpPr>
      <p:grpSpPr>
        <a:xfrm>
          <a:off x="0" y="0"/>
          <a:ext cx="0" cy="0"/>
          <a:chOff x="0" y="0"/>
          <a:chExt cx="0" cy="0"/>
        </a:xfrm>
      </p:grpSpPr>
      <p:pic>
        <p:nvPicPr>
          <p:cNvPr descr="Revenue Trends &amp;amp; Time-Series Analytics" id="194" name="Google Shape;194;p5"/>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8" name="Shape 198"/>
        <p:cNvGrpSpPr/>
        <p:nvPr/>
      </p:nvGrpSpPr>
      <p:grpSpPr>
        <a:xfrm>
          <a:off x="0" y="0"/>
          <a:ext cx="0" cy="0"/>
          <a:chOff x="0" y="0"/>
          <a:chExt cx="0" cy="0"/>
        </a:xfrm>
      </p:grpSpPr>
      <p:sp>
        <p:nvSpPr>
          <p:cNvPr id="199" name="Google Shape;199;h948bc3b0446aeca_0_15"/>
          <p:cNvSpPr txBox="1"/>
          <p:nvPr/>
        </p:nvSpPr>
        <p:spPr>
          <a:xfrm>
            <a:off x="0" y="0"/>
            <a:ext cx="12192000" cy="6908100"/>
          </a:xfrm>
          <a:prstGeom prst="rect">
            <a:avLst/>
          </a:prstGeom>
          <a:noFill/>
          <a:ln>
            <a:noFill/>
          </a:ln>
        </p:spPr>
        <p:txBody>
          <a:bodyPr anchorCtr="0" anchor="t" bIns="91425" lIns="91425" spcFirstLastPara="1" rIns="91425" wrap="square" tIns="91425">
            <a:spAutoFit/>
          </a:bodyPr>
          <a:lstStyle/>
          <a:p>
            <a:pPr indent="-431800" lvl="0" marL="457200" rtl="0" algn="l">
              <a:lnSpc>
                <a:spcPct val="115000"/>
              </a:lnSpc>
              <a:spcBef>
                <a:spcPts val="0"/>
              </a:spcBef>
              <a:spcAft>
                <a:spcPts val="0"/>
              </a:spcAft>
              <a:buClr>
                <a:schemeClr val="lt2"/>
              </a:buClr>
              <a:buSzPts val="3200"/>
              <a:buFont typeface="Calibri"/>
              <a:buChar char="●"/>
            </a:pPr>
            <a:r>
              <a:rPr b="1" lang="en-US" sz="3200">
                <a:solidFill>
                  <a:schemeClr val="lt2"/>
                </a:solidFill>
                <a:latin typeface="Oswald"/>
                <a:ea typeface="Oswald"/>
                <a:cs typeface="Oswald"/>
                <a:sym typeface="Oswald"/>
              </a:rPr>
              <a:t>Macro Revenue Resilience:</a:t>
            </a:r>
            <a:r>
              <a:rPr lang="en-US" sz="3200">
                <a:solidFill>
                  <a:schemeClr val="lt2"/>
                </a:solidFill>
                <a:latin typeface="Oswald"/>
                <a:ea typeface="Oswald"/>
                <a:cs typeface="Oswald"/>
                <a:sym typeface="Oswald"/>
              </a:rPr>
              <a:t> Total combined revenue maintains a remarkably consistent long-term baseline between 1.4M and 1.7M monthly, with standard month-over-month velocity bounded predictably within -18% to +25%.</a:t>
            </a:r>
            <a:endParaRPr sz="3200">
              <a:solidFill>
                <a:schemeClr val="lt2"/>
              </a:solidFill>
              <a:latin typeface="Oswald"/>
              <a:ea typeface="Oswald"/>
              <a:cs typeface="Oswald"/>
              <a:sym typeface="Oswald"/>
            </a:endParaRPr>
          </a:p>
          <a:p>
            <a:pPr indent="-431800" lvl="0" marL="457200" rtl="0" algn="l">
              <a:lnSpc>
                <a:spcPct val="115000"/>
              </a:lnSpc>
              <a:spcBef>
                <a:spcPts val="0"/>
              </a:spcBef>
              <a:spcAft>
                <a:spcPts val="0"/>
              </a:spcAft>
              <a:buClr>
                <a:schemeClr val="lt2"/>
              </a:buClr>
              <a:buSzPts val="3200"/>
              <a:buFont typeface="Calibri"/>
              <a:buChar char="●"/>
            </a:pPr>
            <a:r>
              <a:rPr b="1" lang="en-US" sz="3200">
                <a:solidFill>
                  <a:schemeClr val="lt2"/>
                </a:solidFill>
                <a:latin typeface="Oswald"/>
                <a:ea typeface="Oswald"/>
                <a:cs typeface="Oswald"/>
                <a:sym typeface="Oswald"/>
              </a:rPr>
              <a:t>Balanced Core Portfolio:</a:t>
            </a:r>
            <a:r>
              <a:rPr lang="en-US" sz="3200">
                <a:solidFill>
                  <a:schemeClr val="lt2"/>
                </a:solidFill>
                <a:latin typeface="Oswald"/>
                <a:ea typeface="Oswald"/>
                <a:cs typeface="Oswald"/>
                <a:sym typeface="Oswald"/>
              </a:rPr>
              <a:t> Product 1 serves as the primary revenue anchor (contributing ~40%-50</a:t>
            </a:r>
            <a:r>
              <a:rPr lang="en-US" sz="3200">
                <a:solidFill>
                  <a:schemeClr val="lt2"/>
                </a:solidFill>
                <a:latin typeface="Oswald"/>
                <a:ea typeface="Oswald"/>
                <a:cs typeface="Oswald"/>
                <a:sym typeface="Oswald"/>
              </a:rPr>
              <a:t>%</a:t>
            </a:r>
            <a:r>
              <a:rPr lang="en-US" sz="3200">
                <a:solidFill>
                  <a:schemeClr val="lt2"/>
                </a:solidFill>
                <a:latin typeface="Oswald"/>
                <a:ea typeface="Oswald"/>
                <a:cs typeface="Oswald"/>
                <a:sym typeface="Oswald"/>
              </a:rPr>
              <a:t> of overall monthly volume), supported by equal, stable secondary contributions from Products 2 and 3.</a:t>
            </a:r>
            <a:endParaRPr sz="3200">
              <a:solidFill>
                <a:schemeClr val="lt2"/>
              </a:solidFill>
              <a:latin typeface="Oswald"/>
              <a:ea typeface="Oswald"/>
              <a:cs typeface="Oswald"/>
              <a:sym typeface="Oswald"/>
            </a:endParaRPr>
          </a:p>
          <a:p>
            <a:pPr indent="-431800" lvl="0" marL="457200" rtl="0" algn="l">
              <a:lnSpc>
                <a:spcPct val="115000"/>
              </a:lnSpc>
              <a:spcBef>
                <a:spcPts val="0"/>
              </a:spcBef>
              <a:spcAft>
                <a:spcPts val="0"/>
              </a:spcAft>
              <a:buClr>
                <a:schemeClr val="lt2"/>
              </a:buClr>
              <a:buSzPts val="3200"/>
              <a:buFont typeface="Calibri"/>
              <a:buChar char="●"/>
            </a:pPr>
            <a:r>
              <a:rPr b="1" lang="en-US" sz="3200">
                <a:solidFill>
                  <a:schemeClr val="lt2"/>
                </a:solidFill>
                <a:latin typeface="Oswald"/>
                <a:ea typeface="Oswald"/>
                <a:cs typeface="Oswald"/>
                <a:sym typeface="Oswald"/>
              </a:rPr>
              <a:t>Predictable Demand Volatility:</a:t>
            </a:r>
            <a:r>
              <a:rPr lang="en-US" sz="3200">
                <a:solidFill>
                  <a:schemeClr val="lt2"/>
                </a:solidFill>
                <a:latin typeface="Oswald"/>
                <a:ea typeface="Oswald"/>
                <a:cs typeface="Oswald"/>
                <a:sym typeface="Oswald"/>
              </a:rPr>
              <a:t> Short-term zig-zag revenue fluctuations reflect routine monthly seasonality rather than structural business risk or market share decay.</a:t>
            </a:r>
            <a:endParaRPr sz="3200">
              <a:solidFill>
                <a:schemeClr val="lt2"/>
              </a:solidFill>
              <a:latin typeface="Oswald"/>
              <a:ea typeface="Oswald"/>
              <a:cs typeface="Oswald"/>
              <a:sym typeface="Oswald"/>
            </a:endParaRPr>
          </a:p>
          <a:p>
            <a:pPr indent="-431800" lvl="0" marL="457200" rtl="0" algn="l">
              <a:lnSpc>
                <a:spcPct val="115000"/>
              </a:lnSpc>
              <a:spcBef>
                <a:spcPts val="0"/>
              </a:spcBef>
              <a:spcAft>
                <a:spcPts val="0"/>
              </a:spcAft>
              <a:buClr>
                <a:schemeClr val="lt2"/>
              </a:buClr>
              <a:buSzPts val="3200"/>
              <a:buFont typeface="Calibri"/>
              <a:buChar char="●"/>
            </a:pPr>
            <a:r>
              <a:rPr b="1" lang="en-US" sz="3200">
                <a:solidFill>
                  <a:schemeClr val="lt2"/>
                </a:solidFill>
                <a:latin typeface="Oswald"/>
                <a:ea typeface="Oswald"/>
                <a:cs typeface="Oswald"/>
                <a:sym typeface="Oswald"/>
              </a:rPr>
              <a:t>Growth Floor Security:</a:t>
            </a:r>
            <a:r>
              <a:rPr lang="en-US" sz="3200">
                <a:solidFill>
                  <a:schemeClr val="lt2"/>
                </a:solidFill>
                <a:latin typeface="Oswald"/>
                <a:ea typeface="Oswald"/>
                <a:cs typeface="Oswald"/>
                <a:sym typeface="Oswald"/>
              </a:rPr>
              <a:t> Contractions are strictly contained above -18% under standard operations, proving strong customer retention across all product tiers over the 12-year window.</a:t>
            </a:r>
            <a:endParaRPr sz="3200">
              <a:solidFill>
                <a:schemeClr val="lt2"/>
              </a:solidFill>
              <a:latin typeface="Oswald"/>
              <a:ea typeface="Oswald"/>
              <a:cs typeface="Oswald"/>
              <a:sym typeface="Oswa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3" name="Shape 203"/>
        <p:cNvGrpSpPr/>
        <p:nvPr/>
      </p:nvGrpSpPr>
      <p:grpSpPr>
        <a:xfrm>
          <a:off x="0" y="0"/>
          <a:ext cx="0" cy="0"/>
          <a:chOff x="0" y="0"/>
          <a:chExt cx="0" cy="0"/>
        </a:xfrm>
      </p:grpSpPr>
      <p:pic>
        <p:nvPicPr>
          <p:cNvPr descr="4. Product Revenue vs. Volume Breakdown (Side-by-Side Bar Chart)" id="204" name="Google Shape;204;p6"/>
          <p:cNvPicPr preferRelativeResize="0"/>
          <p:nvPr/>
        </p:nvPicPr>
        <p:blipFill rotWithShape="1">
          <a:blip r:embed="rId3">
            <a:alphaModFix/>
          </a:blip>
          <a:srcRect b="0" l="0" r="0" t="0"/>
          <a:stretch/>
        </p:blipFill>
        <p:spPr>
          <a:xfrm>
            <a:off x="103043" y="0"/>
            <a:ext cx="11985914"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8" name="Shape 208"/>
        <p:cNvGrpSpPr/>
        <p:nvPr/>
      </p:nvGrpSpPr>
      <p:grpSpPr>
        <a:xfrm>
          <a:off x="0" y="0"/>
          <a:ext cx="0" cy="0"/>
          <a:chOff x="0" y="0"/>
          <a:chExt cx="0" cy="0"/>
        </a:xfrm>
      </p:grpSpPr>
      <p:sp>
        <p:nvSpPr>
          <p:cNvPr id="209" name="Google Shape;209;h948bc3b0446aeca_0_20"/>
          <p:cNvSpPr txBox="1"/>
          <p:nvPr/>
        </p:nvSpPr>
        <p:spPr>
          <a:xfrm>
            <a:off x="0" y="0"/>
            <a:ext cx="12192000" cy="68973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lt2"/>
              </a:buClr>
              <a:buSzPts val="3000"/>
              <a:buFont typeface="Calibri"/>
              <a:buChar char="●"/>
            </a:pPr>
            <a:r>
              <a:rPr b="1" lang="en-US" sz="2900">
                <a:solidFill>
                  <a:schemeClr val="lt2"/>
                </a:solidFill>
                <a:latin typeface="Oswald"/>
                <a:ea typeface="Oswald"/>
                <a:cs typeface="Oswald"/>
                <a:sym typeface="Oswald"/>
              </a:rPr>
              <a:t>Top Revenue Generator (P3):</a:t>
            </a:r>
            <a:r>
              <a:rPr lang="en-US" sz="2900">
                <a:solidFill>
                  <a:schemeClr val="lt2"/>
                </a:solidFill>
                <a:latin typeface="Oswald"/>
                <a:ea typeface="Oswald"/>
                <a:cs typeface="Oswald"/>
                <a:sym typeface="Oswald"/>
              </a:rPr>
              <a:t> Total Revenue P3 leads all products in monetary output, generating 78,429,590 in total revenue.</a:t>
            </a:r>
            <a:endParaRPr sz="29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2900">
                <a:solidFill>
                  <a:schemeClr val="lt2"/>
                </a:solidFill>
                <a:latin typeface="Oswald"/>
                <a:ea typeface="Oswald"/>
                <a:cs typeface="Oswald"/>
                <a:sym typeface="Oswald"/>
              </a:rPr>
              <a:t>Secondary Revenue Drivers (P2 &amp; P1):</a:t>
            </a:r>
            <a:r>
              <a:rPr lang="en-US" sz="2900">
                <a:solidFill>
                  <a:schemeClr val="lt2"/>
                </a:solidFill>
                <a:latin typeface="Oswald"/>
                <a:ea typeface="Oswald"/>
                <a:cs typeface="Oswald"/>
                <a:sym typeface="Oswald"/>
              </a:rPr>
              <a:t> Total Revenue P2 (62,127,530) and Total Revenue P1 (60,104,804) produce nearly identical high-volume financial returns.</a:t>
            </a:r>
            <a:endParaRPr sz="29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2900">
                <a:solidFill>
                  <a:schemeClr val="lt2"/>
                </a:solidFill>
                <a:latin typeface="Oswald"/>
                <a:ea typeface="Oswald"/>
                <a:cs typeface="Oswald"/>
                <a:sym typeface="Oswald"/>
              </a:rPr>
              <a:t>Lowest Revenue Performer (P4):</a:t>
            </a:r>
            <a:r>
              <a:rPr lang="en-US" sz="2900">
                <a:solidFill>
                  <a:schemeClr val="lt2"/>
                </a:solidFill>
                <a:latin typeface="Oswald"/>
                <a:ea typeface="Oswald"/>
                <a:cs typeface="Oswald"/>
                <a:sym typeface="Oswald"/>
              </a:rPr>
              <a:t> Total Revenue P4 lags behind significantly at 36,848,553, producing roughly half the revenue of Product 3.</a:t>
            </a:r>
            <a:endParaRPr sz="29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2900">
                <a:solidFill>
                  <a:schemeClr val="lt2"/>
                </a:solidFill>
                <a:latin typeface="Oswald"/>
                <a:ea typeface="Oswald"/>
                <a:cs typeface="Oswald"/>
                <a:sym typeface="Oswald"/>
              </a:rPr>
              <a:t>Highest Sales Volume (P1):</a:t>
            </a:r>
            <a:r>
              <a:rPr lang="en-US" sz="2900">
                <a:solidFill>
                  <a:schemeClr val="lt2"/>
                </a:solidFill>
                <a:latin typeface="Oswald"/>
                <a:ea typeface="Oswald"/>
                <a:cs typeface="Oswald"/>
                <a:sym typeface="Oswald"/>
              </a:rPr>
              <a:t> Total Unit Sales P1 tops unit volume with 18,960,506 units sold, closely followed by Total Unit Sales P3 at 14,470,404 units.</a:t>
            </a:r>
            <a:endParaRPr sz="29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2900">
                <a:solidFill>
                  <a:schemeClr val="lt2"/>
                </a:solidFill>
                <a:latin typeface="Oswald"/>
                <a:ea typeface="Oswald"/>
                <a:cs typeface="Oswald"/>
                <a:sym typeface="Oswald"/>
              </a:rPr>
              <a:t>Lowest Sales Volume (P4):</a:t>
            </a:r>
            <a:r>
              <a:rPr lang="en-US" sz="2900">
                <a:solidFill>
                  <a:schemeClr val="lt2"/>
                </a:solidFill>
                <a:latin typeface="Oswald"/>
                <a:ea typeface="Oswald"/>
                <a:cs typeface="Oswald"/>
                <a:sym typeface="Oswald"/>
              </a:rPr>
              <a:t> Total Unit Sales P4 records the fewest sales at 5,168,100 units, while Total Unit Sales P2 records 9,799,295 units.</a:t>
            </a:r>
            <a:endParaRPr sz="29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2900">
                <a:solidFill>
                  <a:schemeClr val="lt2"/>
                </a:solidFill>
                <a:latin typeface="Oswald"/>
                <a:ea typeface="Oswald"/>
                <a:cs typeface="Oswald"/>
                <a:sym typeface="Oswald"/>
              </a:rPr>
              <a:t>Volume vs. Value Realization Disparity:</a:t>
            </a:r>
            <a:r>
              <a:rPr lang="en-US" sz="2900">
                <a:solidFill>
                  <a:schemeClr val="lt2"/>
                </a:solidFill>
                <a:latin typeface="Oswald"/>
                <a:ea typeface="Oswald"/>
                <a:cs typeface="Oswald"/>
                <a:sym typeface="Oswald"/>
              </a:rPr>
              <a:t> Product 2 generates higher total revenue than Product 1 despite selling roughly half the unit volume, indicating a substantially higher price point or revenue per unit.</a:t>
            </a:r>
            <a:endParaRPr sz="2900">
              <a:solidFill>
                <a:schemeClr val="lt2"/>
              </a:solidFill>
              <a:latin typeface="Oswald"/>
              <a:ea typeface="Oswald"/>
              <a:cs typeface="Oswald"/>
              <a:sym typeface="Oswa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3" name="Shape 213"/>
        <p:cNvGrpSpPr/>
        <p:nvPr/>
      </p:nvGrpSpPr>
      <p:grpSpPr>
        <a:xfrm>
          <a:off x="0" y="0"/>
          <a:ext cx="0" cy="0"/>
          <a:chOff x="0" y="0"/>
          <a:chExt cx="0" cy="0"/>
        </a:xfrm>
      </p:grpSpPr>
      <p:pic>
        <p:nvPicPr>
          <p:cNvPr descr="5. Average Selling Price (ASP) Comparison by Product" id="214" name="Google Shape;214;p7"/>
          <p:cNvPicPr preferRelativeResize="0"/>
          <p:nvPr/>
        </p:nvPicPr>
        <p:blipFill rotWithShape="1">
          <a:blip r:embed="rId3">
            <a:alphaModFix/>
          </a:blip>
          <a:srcRect b="0" l="0" r="0" t="0"/>
          <a:stretch/>
        </p:blipFill>
        <p:spPr>
          <a:xfrm>
            <a:off x="0" y="49435"/>
            <a:ext cx="12192000" cy="675912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8" name="Shape 218"/>
        <p:cNvGrpSpPr/>
        <p:nvPr/>
      </p:nvGrpSpPr>
      <p:grpSpPr>
        <a:xfrm>
          <a:off x="0" y="0"/>
          <a:ext cx="0" cy="0"/>
          <a:chOff x="0" y="0"/>
          <a:chExt cx="0" cy="0"/>
        </a:xfrm>
      </p:grpSpPr>
      <p:sp>
        <p:nvSpPr>
          <p:cNvPr id="219" name="Google Shape;219;h948bc3b0446aeca_0_25"/>
          <p:cNvSpPr txBox="1"/>
          <p:nvPr/>
        </p:nvSpPr>
        <p:spPr>
          <a:xfrm>
            <a:off x="0" y="0"/>
            <a:ext cx="12192000" cy="54258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Highest Premium Product (P4):</a:t>
            </a:r>
            <a:r>
              <a:rPr lang="en-US" sz="3000">
                <a:solidFill>
                  <a:schemeClr val="lt2"/>
                </a:solidFill>
                <a:latin typeface="Oswald"/>
                <a:ea typeface="Oswald"/>
                <a:cs typeface="Oswald"/>
                <a:sym typeface="Oswald"/>
              </a:rPr>
              <a:t> ASP P4 commands the highest average unit price across the portfolio at ₹7.13.</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Second Highest Pricing Tier (P2):</a:t>
            </a:r>
            <a:r>
              <a:rPr lang="en-US" sz="3000">
                <a:solidFill>
                  <a:schemeClr val="lt2"/>
                </a:solidFill>
                <a:latin typeface="Oswald"/>
                <a:ea typeface="Oswald"/>
                <a:cs typeface="Oswald"/>
                <a:sym typeface="Oswald"/>
              </a:rPr>
              <a:t> ASP P2 sits in the premium range as the second most expensive product at ₹6.34 per unit.</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Mid-Tier Value Realization (P3):</a:t>
            </a:r>
            <a:r>
              <a:rPr lang="en-US" sz="3000">
                <a:solidFill>
                  <a:schemeClr val="lt2"/>
                </a:solidFill>
                <a:latin typeface="Oswald"/>
                <a:ea typeface="Oswald"/>
                <a:cs typeface="Oswald"/>
                <a:sym typeface="Oswald"/>
              </a:rPr>
              <a:t> ASP P3 is priced in the middle-tier baseline at ₹5.42 per unit.</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Lowest Unit Pricing / Volume Tier (P1):</a:t>
            </a:r>
            <a:r>
              <a:rPr lang="en-US" sz="3000">
                <a:solidFill>
                  <a:schemeClr val="lt2"/>
                </a:solidFill>
                <a:latin typeface="Oswald"/>
                <a:ea typeface="Oswald"/>
                <a:cs typeface="Oswald"/>
                <a:sym typeface="Oswald"/>
              </a:rPr>
              <a:t> ASP P1 has the lowest unit selling price at ₹3.17, which is less than half the price of Product 4.</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Significant Price Spread:</a:t>
            </a:r>
            <a:r>
              <a:rPr lang="en-US" sz="3000">
                <a:solidFill>
                  <a:schemeClr val="lt2"/>
                </a:solidFill>
                <a:latin typeface="Oswald"/>
                <a:ea typeface="Oswald"/>
                <a:cs typeface="Oswald"/>
                <a:sym typeface="Oswald"/>
              </a:rPr>
              <a:t> A substantial 125% price spread exists across the product line, ranging from ₹3.17 (P1) up to ₹7.13 (P4).</a:t>
            </a:r>
            <a:endParaRPr sz="3000">
              <a:solidFill>
                <a:schemeClr val="lt2"/>
              </a:solidFill>
              <a:latin typeface="Oswald"/>
              <a:ea typeface="Oswald"/>
              <a:cs typeface="Oswald"/>
              <a:sym typeface="Oswa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3" name="Shape 223"/>
        <p:cNvGrpSpPr/>
        <p:nvPr/>
      </p:nvGrpSpPr>
      <p:grpSpPr>
        <a:xfrm>
          <a:off x="0" y="0"/>
          <a:ext cx="0" cy="0"/>
          <a:chOff x="0" y="0"/>
          <a:chExt cx="0" cy="0"/>
        </a:xfrm>
      </p:grpSpPr>
      <p:pic>
        <p:nvPicPr>
          <p:cNvPr descr="Product Performance &amp;amp; Portfolio Mix" id="224" name="Google Shape;224;p8"/>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8" name="Shape 228"/>
        <p:cNvGrpSpPr/>
        <p:nvPr/>
      </p:nvGrpSpPr>
      <p:grpSpPr>
        <a:xfrm>
          <a:off x="0" y="0"/>
          <a:ext cx="0" cy="0"/>
          <a:chOff x="0" y="0"/>
          <a:chExt cx="0" cy="0"/>
        </a:xfrm>
      </p:grpSpPr>
      <p:sp>
        <p:nvSpPr>
          <p:cNvPr id="229" name="Google Shape;229;h948bc3b0446aeca_0_30"/>
          <p:cNvSpPr txBox="1"/>
          <p:nvPr/>
        </p:nvSpPr>
        <p:spPr>
          <a:xfrm>
            <a:off x="0" y="0"/>
            <a:ext cx="12192000" cy="6791100"/>
          </a:xfrm>
          <a:prstGeom prst="rect">
            <a:avLst/>
          </a:prstGeom>
          <a:noFill/>
          <a:ln>
            <a:noFill/>
          </a:ln>
        </p:spPr>
        <p:txBody>
          <a:bodyPr anchorCtr="0" anchor="t" bIns="91425" lIns="91425" spcFirstLastPara="1" rIns="91425" wrap="square" tIns="91425">
            <a:spAutoFit/>
          </a:bodyPr>
          <a:lstStyle/>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Clear Portfolio Tiering:</a:t>
            </a:r>
            <a:r>
              <a:rPr lang="en-US" sz="2900">
                <a:solidFill>
                  <a:schemeClr val="lt2"/>
                </a:solidFill>
                <a:latin typeface="Oswald"/>
                <a:ea typeface="Oswald"/>
                <a:cs typeface="Oswald"/>
                <a:sym typeface="Oswald"/>
              </a:rPr>
              <a:t> The product line divides distinctly into a high-volume value engine (P1), a balanced revenue powerhouse (P3), a high-margin contributor (P2), and a niche premium tier (P4).</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Product 3 as the Core Financial Driver:</a:t>
            </a:r>
            <a:r>
              <a:rPr lang="en-US" sz="2900">
                <a:solidFill>
                  <a:schemeClr val="lt2"/>
                </a:solidFill>
                <a:latin typeface="Oswald"/>
                <a:ea typeface="Oswald"/>
                <a:cs typeface="Oswald"/>
                <a:sym typeface="Oswald"/>
              </a:rPr>
              <a:t> At a mid-tier price point of ₹5.42, Product 3 achieves the ideal balance of high volume (14.5M units) and optimal price realization to deliver the highest total revenue (₹78.4M).</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Volume vs. Price Efficiency (P1 vs. P2):</a:t>
            </a:r>
            <a:r>
              <a:rPr lang="en-US" sz="2900">
                <a:solidFill>
                  <a:schemeClr val="lt2"/>
                </a:solidFill>
                <a:latin typeface="Oswald"/>
                <a:ea typeface="Oswald"/>
                <a:cs typeface="Oswald"/>
                <a:sym typeface="Oswald"/>
              </a:rPr>
              <a:t> Product 1 relies on volume scale at the lowest price point (₹3.17 / 19M units), whereas Product 2 matches P1's ₹60M+ revenue output with half the physical volume (9.8M units) due to its 2x higher price point (₹6.34).</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Optimization Opportunity for P4:</a:t>
            </a:r>
            <a:r>
              <a:rPr lang="en-US" sz="2900">
                <a:solidFill>
                  <a:schemeClr val="lt2"/>
                </a:solidFill>
                <a:latin typeface="Oswald"/>
                <a:ea typeface="Oswald"/>
                <a:cs typeface="Oswald"/>
                <a:sym typeface="Oswald"/>
              </a:rPr>
              <a:t> Despite commanding the highest unit price (₹7.13), Product 4 generates the lowest total sales volume (5.2M units) and revenue (₹36.8M), indicating potential to expand volume or re-evaluate market positioning.</a:t>
            </a:r>
            <a:endParaRPr sz="2900">
              <a:solidFill>
                <a:schemeClr val="lt2"/>
              </a:solidFill>
              <a:latin typeface="Oswald"/>
              <a:ea typeface="Oswald"/>
              <a:cs typeface="Oswald"/>
              <a:sym typeface="Oswa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6. Transaction Revenue Distribution (Histogram)" id="234" name="Google Shape;234;hebd14b32e612767_2_75"/>
          <p:cNvPicPr preferRelativeResize="0"/>
          <p:nvPr/>
        </p:nvPicPr>
        <p:blipFill rotWithShape="1">
          <a:blip r:embed="rId3">
            <a:alphaModFix/>
          </a:blip>
          <a:srcRect b="0" l="0" r="0" t="0"/>
          <a:stretch/>
        </p:blipFill>
        <p:spPr>
          <a:xfrm>
            <a:off x="0" y="175995"/>
            <a:ext cx="12192000" cy="650601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8" name="Shape 238"/>
        <p:cNvGrpSpPr/>
        <p:nvPr/>
      </p:nvGrpSpPr>
      <p:grpSpPr>
        <a:xfrm>
          <a:off x="0" y="0"/>
          <a:ext cx="0" cy="0"/>
          <a:chOff x="0" y="0"/>
          <a:chExt cx="0" cy="0"/>
        </a:xfrm>
      </p:grpSpPr>
      <p:sp>
        <p:nvSpPr>
          <p:cNvPr id="239" name="Google Shape;239;h948bc3b0446aeca_0_35"/>
          <p:cNvSpPr txBox="1"/>
          <p:nvPr/>
        </p:nvSpPr>
        <p:spPr>
          <a:xfrm>
            <a:off x="0" y="0"/>
            <a:ext cx="12192000" cy="63354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Normal Bell-Curve Distribution:</a:t>
            </a:r>
            <a:r>
              <a:rPr lang="en-US" sz="2700">
                <a:solidFill>
                  <a:schemeClr val="lt2"/>
                </a:solidFill>
                <a:latin typeface="Oswald"/>
                <a:ea typeface="Oswald"/>
                <a:cs typeface="Oswald"/>
                <a:sym typeface="Oswald"/>
              </a:rPr>
              <a:t> Transaction sizes follow a classic symmetric normal distribution centered around mid-tier transaction values.</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Peak Transaction Bucket (Mode):</a:t>
            </a:r>
            <a:r>
              <a:rPr lang="en-US" sz="2700">
                <a:solidFill>
                  <a:schemeClr val="lt2"/>
                </a:solidFill>
                <a:latin typeface="Oswald"/>
                <a:ea typeface="Oswald"/>
                <a:cs typeface="Oswald"/>
                <a:sym typeface="Oswald"/>
              </a:rPr>
              <a:t> The highest frequency of transactions occurs in the 54K–55K revenue bin, peaking at 270 distinct transactions.</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Core Order Size Range:</a:t>
            </a:r>
            <a:r>
              <a:rPr lang="en-US" sz="2700">
                <a:solidFill>
                  <a:schemeClr val="lt2"/>
                </a:solidFill>
                <a:latin typeface="Oswald"/>
                <a:ea typeface="Oswald"/>
                <a:cs typeface="Oswald"/>
                <a:sym typeface="Oswald"/>
              </a:rPr>
              <a:t> The vast majority of sales fall within a broad mid-market band of 35K to 68K per transaction, with bins consistently recording over 100 transactions each.</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Low-Value Tail (Low Frequency):</a:t>
            </a:r>
            <a:r>
              <a:rPr lang="en-US" sz="2700">
                <a:solidFill>
                  <a:schemeClr val="lt2"/>
                </a:solidFill>
                <a:latin typeface="Oswald"/>
                <a:ea typeface="Oswald"/>
                <a:cs typeface="Oswald"/>
                <a:sym typeface="Oswald"/>
              </a:rPr>
              <a:t> Small-value transactions under 20K are relatively rare, tapering down to as few as 1 to 5 transactions near 10K–15K.</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High-Value Tail (Outliers):</a:t>
            </a:r>
            <a:r>
              <a:rPr lang="en-US" sz="2700">
                <a:solidFill>
                  <a:schemeClr val="lt2"/>
                </a:solidFill>
                <a:latin typeface="Oswald"/>
                <a:ea typeface="Oswald"/>
                <a:cs typeface="Oswald"/>
                <a:sym typeface="Oswald"/>
              </a:rPr>
              <a:t> Large enterprise-scale transactions above 80K decrease sharply, with extreme high-value transactions topping out around 92K–94K (1 to 2 occurrences).</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Sample Size:</a:t>
            </a:r>
            <a:r>
              <a:rPr lang="en-US" sz="2700">
                <a:solidFill>
                  <a:schemeClr val="lt2"/>
                </a:solidFill>
                <a:latin typeface="Oswald"/>
                <a:ea typeface="Oswald"/>
                <a:cs typeface="Oswald"/>
                <a:sym typeface="Oswald"/>
              </a:rPr>
              <a:t> The dataset captures 4,600 total distinct transaction IDs distributed across revenue bins.</a:t>
            </a:r>
            <a:endParaRPr sz="2700">
              <a:solidFill>
                <a:schemeClr val="lt2"/>
              </a:solidFill>
              <a:latin typeface="Oswald"/>
              <a:ea typeface="Oswald"/>
              <a:cs typeface="Oswald"/>
              <a:sym typeface="Oswa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3" name="Shape 243"/>
        <p:cNvGrpSpPr/>
        <p:nvPr/>
      </p:nvGrpSpPr>
      <p:grpSpPr>
        <a:xfrm>
          <a:off x="0" y="0"/>
          <a:ext cx="0" cy="0"/>
          <a:chOff x="0" y="0"/>
          <a:chExt cx="0" cy="0"/>
        </a:xfrm>
      </p:grpSpPr>
      <p:pic>
        <p:nvPicPr>
          <p:cNvPr descr="7. Peak Sales Seasonality Heatmap" id="244" name="Google Shape;244;p10"/>
          <p:cNvPicPr preferRelativeResize="0"/>
          <p:nvPr/>
        </p:nvPicPr>
        <p:blipFill rotWithShape="1">
          <a:blip r:embed="rId3">
            <a:alphaModFix/>
          </a:blip>
          <a:srcRect b="0" l="0" r="0" t="0"/>
          <a:stretch/>
        </p:blipFill>
        <p:spPr>
          <a:xfrm>
            <a:off x="0" y="49477"/>
            <a:ext cx="12192000" cy="675904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8" name="Shape 248"/>
        <p:cNvGrpSpPr/>
        <p:nvPr/>
      </p:nvGrpSpPr>
      <p:grpSpPr>
        <a:xfrm>
          <a:off x="0" y="0"/>
          <a:ext cx="0" cy="0"/>
          <a:chOff x="0" y="0"/>
          <a:chExt cx="0" cy="0"/>
        </a:xfrm>
      </p:grpSpPr>
      <p:sp>
        <p:nvSpPr>
          <p:cNvPr id="249" name="Google Shape;249;h948bc3b0446aeca_0_40"/>
          <p:cNvSpPr txBox="1"/>
          <p:nvPr/>
        </p:nvSpPr>
        <p:spPr>
          <a:xfrm>
            <a:off x="0" y="0"/>
            <a:ext cx="12192000" cy="58575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Strong H2 Seasonality:</a:t>
            </a:r>
            <a:r>
              <a:rPr lang="en-US" sz="2700">
                <a:solidFill>
                  <a:schemeClr val="lt2"/>
                </a:solidFill>
                <a:latin typeface="Oswald"/>
                <a:ea typeface="Oswald"/>
                <a:cs typeface="Oswald"/>
                <a:sym typeface="Oswald"/>
              </a:rPr>
              <a:t> Sales revenue peaks heavily in the second half of the year (July through December), characterized by widespread dark blue shading across most weekdays.</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February Trough:</a:t>
            </a:r>
            <a:r>
              <a:rPr lang="en-US" sz="2700">
                <a:solidFill>
                  <a:schemeClr val="lt2"/>
                </a:solidFill>
                <a:latin typeface="Oswald"/>
                <a:ea typeface="Oswald"/>
                <a:cs typeface="Oswald"/>
                <a:sym typeface="Oswald"/>
              </a:rPr>
              <a:t> February is consistently the lowest-performing revenue month across all days of the week (dark orange/brown tiles), dropping to a absolute low of 2,328,132 on Fridays.</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Peak Revenue Tiles:</a:t>
            </a:r>
            <a:r>
              <a:rPr lang="en-US" sz="2700">
                <a:solidFill>
                  <a:schemeClr val="lt2"/>
                </a:solidFill>
                <a:latin typeface="Oswald"/>
                <a:ea typeface="Oswald"/>
                <a:cs typeface="Oswald"/>
                <a:sym typeface="Oswald"/>
              </a:rPr>
              <a:t> The single highest revenue cells occur on Fridays in July (3,182,481), Saturdays in October (3,184,869), and Thursdays in December (3,107,840).</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Steady Mid-Year Performance:</a:t>
            </a:r>
            <a:r>
              <a:rPr lang="en-US" sz="2700">
                <a:solidFill>
                  <a:schemeClr val="lt2"/>
                </a:solidFill>
                <a:latin typeface="Oswald"/>
                <a:ea typeface="Oswald"/>
                <a:cs typeface="Oswald"/>
                <a:sym typeface="Oswald"/>
              </a:rPr>
              <a:t> March, April, and May exhibit moderate, baseline sales performance (orange to light orange shading) ranging between 2.5M and 2.7M per weekday.</a:t>
            </a:r>
            <a:endParaRPr sz="2700">
              <a:solidFill>
                <a:schemeClr val="lt2"/>
              </a:solidFill>
              <a:latin typeface="Oswald"/>
              <a:ea typeface="Oswald"/>
              <a:cs typeface="Oswald"/>
              <a:sym typeface="Oswald"/>
            </a:endParaRPr>
          </a:p>
          <a:p>
            <a:pPr indent="-400050" lvl="0" marL="457200" rtl="0" algn="l">
              <a:lnSpc>
                <a:spcPct val="115000"/>
              </a:lnSpc>
              <a:spcBef>
                <a:spcPts val="0"/>
              </a:spcBef>
              <a:spcAft>
                <a:spcPts val="0"/>
              </a:spcAft>
              <a:buClr>
                <a:schemeClr val="lt2"/>
              </a:buClr>
              <a:buSzPts val="2700"/>
              <a:buFont typeface="Calibri"/>
              <a:buChar char="●"/>
            </a:pPr>
            <a:r>
              <a:rPr b="1" lang="en-US" sz="2700">
                <a:solidFill>
                  <a:schemeClr val="lt2"/>
                </a:solidFill>
                <a:latin typeface="Oswald"/>
                <a:ea typeface="Oswald"/>
                <a:cs typeface="Oswald"/>
                <a:sym typeface="Oswald"/>
              </a:rPr>
              <a:t>Balanced Day-of-Week Distribution:</a:t>
            </a:r>
            <a:r>
              <a:rPr lang="en-US" sz="2700">
                <a:solidFill>
                  <a:schemeClr val="lt2"/>
                </a:solidFill>
                <a:latin typeface="Oswald"/>
                <a:ea typeface="Oswald"/>
                <a:cs typeface="Oswald"/>
                <a:sym typeface="Oswald"/>
              </a:rPr>
              <a:t> Revenue is distributed fairly evenly across weekdays, showing that monthly seasonality (time of year) impacts performance far more significantly than specific days of the week.</a:t>
            </a:r>
            <a:endParaRPr sz="2700">
              <a:solidFill>
                <a:schemeClr val="lt2"/>
              </a:solidFill>
              <a:latin typeface="Oswald"/>
              <a:ea typeface="Oswald"/>
              <a:cs typeface="Oswald"/>
              <a:sym typeface="Oswa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3" name="Shape 253"/>
        <p:cNvGrpSpPr/>
        <p:nvPr/>
      </p:nvGrpSpPr>
      <p:grpSpPr>
        <a:xfrm>
          <a:off x="0" y="0"/>
          <a:ext cx="0" cy="0"/>
          <a:chOff x="0" y="0"/>
          <a:chExt cx="0" cy="0"/>
        </a:xfrm>
      </p:grpSpPr>
      <p:pic>
        <p:nvPicPr>
          <p:cNvPr descr="8. Product Cross-Volume Correlation (Scatter Matrix)" id="254" name="Google Shape;254;p11"/>
          <p:cNvPicPr preferRelativeResize="0"/>
          <p:nvPr/>
        </p:nvPicPr>
        <p:blipFill rotWithShape="1">
          <a:blip r:embed="rId3">
            <a:alphaModFix/>
          </a:blip>
          <a:srcRect b="0" l="0" r="0" t="0"/>
          <a:stretch/>
        </p:blipFill>
        <p:spPr>
          <a:xfrm>
            <a:off x="0" y="83585"/>
            <a:ext cx="12192000" cy="669082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8" name="Shape 258"/>
        <p:cNvGrpSpPr/>
        <p:nvPr/>
      </p:nvGrpSpPr>
      <p:grpSpPr>
        <a:xfrm>
          <a:off x="0" y="0"/>
          <a:ext cx="0" cy="0"/>
          <a:chOff x="0" y="0"/>
          <a:chExt cx="0" cy="0"/>
        </a:xfrm>
      </p:grpSpPr>
      <p:sp>
        <p:nvSpPr>
          <p:cNvPr id="259" name="Google Shape;259;h948bc3b0446aeca_0_45"/>
          <p:cNvSpPr txBox="1"/>
          <p:nvPr/>
        </p:nvSpPr>
        <p:spPr>
          <a:xfrm>
            <a:off x="0" y="0"/>
            <a:ext cx="12192000" cy="6791100"/>
          </a:xfrm>
          <a:prstGeom prst="rect">
            <a:avLst/>
          </a:prstGeom>
          <a:noFill/>
          <a:ln>
            <a:noFill/>
          </a:ln>
        </p:spPr>
        <p:txBody>
          <a:bodyPr anchorCtr="0" anchor="t" bIns="91425" lIns="91425" spcFirstLastPara="1" rIns="91425" wrap="square" tIns="91425">
            <a:spAutoFit/>
          </a:bodyPr>
          <a:lstStyle/>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Positive Volume Correlation:</a:t>
            </a:r>
            <a:r>
              <a:rPr lang="en-US" sz="2900">
                <a:solidFill>
                  <a:schemeClr val="lt2"/>
                </a:solidFill>
                <a:latin typeface="Oswald"/>
                <a:ea typeface="Oswald"/>
                <a:cs typeface="Oswald"/>
                <a:sym typeface="Oswald"/>
              </a:rPr>
              <a:t> All four scatter plots show upward-sloping linear trend lines (red dashed lines), indicating positive relationships between product unit sales volumes.</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Complementary Demand Profile:</a:t>
            </a:r>
            <a:r>
              <a:rPr lang="en-US" sz="2900">
                <a:solidFill>
                  <a:schemeClr val="lt2"/>
                </a:solidFill>
                <a:latin typeface="Oswald"/>
                <a:ea typeface="Oswald"/>
                <a:cs typeface="Oswald"/>
                <a:sym typeface="Oswald"/>
              </a:rPr>
              <a:t> Higher sales volume in P1 or P3 directly coincides with increased sales volume in P2 and P4, confirming no product cannibalization exists across the portfolio.</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P2 Volume Distribution:</a:t>
            </a:r>
            <a:r>
              <a:rPr lang="en-US" sz="2900">
                <a:solidFill>
                  <a:schemeClr val="lt2"/>
                </a:solidFill>
                <a:latin typeface="Oswald"/>
                <a:ea typeface="Oswald"/>
                <a:cs typeface="Oswald"/>
                <a:sym typeface="Oswald"/>
              </a:rPr>
              <a:t> Total Unit Sales P2 clusters primarily between 50K and 80K units when plotted against P1 (100K to 150K units) and P3 (70K to 110K units).</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P4 Volume Distribution:</a:t>
            </a:r>
            <a:r>
              <a:rPr lang="en-US" sz="2900">
                <a:solidFill>
                  <a:schemeClr val="lt2"/>
                </a:solidFill>
                <a:latin typeface="Oswald"/>
                <a:ea typeface="Oswald"/>
                <a:cs typeface="Oswald"/>
                <a:sym typeface="Oswald"/>
              </a:rPr>
              <a:t> Total Unit Sales P4 clusters in a lower range between 25K and 45K units across corresponding P1 and P3 volume levels.</a:t>
            </a:r>
            <a:endParaRPr sz="2900">
              <a:solidFill>
                <a:schemeClr val="lt2"/>
              </a:solidFill>
              <a:latin typeface="Oswald"/>
              <a:ea typeface="Oswald"/>
              <a:cs typeface="Oswald"/>
              <a:sym typeface="Oswald"/>
            </a:endParaRPr>
          </a:p>
          <a:p>
            <a:pPr indent="-412750" lvl="0" marL="457200" rtl="0" algn="l">
              <a:lnSpc>
                <a:spcPct val="115000"/>
              </a:lnSpc>
              <a:spcBef>
                <a:spcPts val="0"/>
              </a:spcBef>
              <a:spcAft>
                <a:spcPts val="0"/>
              </a:spcAft>
              <a:buClr>
                <a:schemeClr val="lt2"/>
              </a:buClr>
              <a:buSzPts val="2900"/>
              <a:buFont typeface="Calibri"/>
              <a:buChar char="●"/>
            </a:pPr>
            <a:r>
              <a:rPr b="1" lang="en-US" sz="2900">
                <a:solidFill>
                  <a:schemeClr val="lt2"/>
                </a:solidFill>
                <a:latin typeface="Oswald"/>
                <a:ea typeface="Oswald"/>
                <a:cs typeface="Oswald"/>
                <a:sym typeface="Oswald"/>
              </a:rPr>
              <a:t>Data Boundary Outliers:</a:t>
            </a:r>
            <a:r>
              <a:rPr lang="en-US" sz="2900">
                <a:solidFill>
                  <a:schemeClr val="lt2"/>
                </a:solidFill>
                <a:latin typeface="Oswald"/>
                <a:ea typeface="Oswald"/>
                <a:cs typeface="Oswald"/>
                <a:sym typeface="Oswald"/>
              </a:rPr>
              <a:t> Low-volume outlier points near 0K–10K units appear in the bottom-left corners of all matrix views, reflecting partial reporting periods or start/end dataset boundaries.</a:t>
            </a:r>
            <a:endParaRPr sz="2900">
              <a:solidFill>
                <a:schemeClr val="lt2"/>
              </a:solidFill>
              <a:latin typeface="Oswald"/>
              <a:ea typeface="Oswald"/>
              <a:cs typeface="Oswald"/>
              <a:sym typeface="Oswa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3" name="Shape 263"/>
        <p:cNvGrpSpPr/>
        <p:nvPr/>
      </p:nvGrpSpPr>
      <p:grpSpPr>
        <a:xfrm>
          <a:off x="0" y="0"/>
          <a:ext cx="0" cy="0"/>
          <a:chOff x="0" y="0"/>
          <a:chExt cx="0" cy="0"/>
        </a:xfrm>
      </p:grpSpPr>
      <p:pic>
        <p:nvPicPr>
          <p:cNvPr descr="Seasonality &amp;amp; Operational Insights" id="264" name="Google Shape;264;p12"/>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8" name="Shape 268"/>
        <p:cNvGrpSpPr/>
        <p:nvPr/>
      </p:nvGrpSpPr>
      <p:grpSpPr>
        <a:xfrm>
          <a:off x="0" y="0"/>
          <a:ext cx="0" cy="0"/>
          <a:chOff x="0" y="0"/>
          <a:chExt cx="0" cy="0"/>
        </a:xfrm>
      </p:grpSpPr>
      <p:sp>
        <p:nvSpPr>
          <p:cNvPr id="269" name="Google Shape;269;h948bc3b0446aeca_0_50"/>
          <p:cNvSpPr txBox="1"/>
          <p:nvPr/>
        </p:nvSpPr>
        <p:spPr>
          <a:xfrm>
            <a:off x="0" y="0"/>
            <a:ext cx="12192000" cy="64878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Strong Seasonal Upside Acceleration:</a:t>
            </a:r>
            <a:r>
              <a:rPr lang="en-US" sz="3000">
                <a:solidFill>
                  <a:schemeClr val="lt2"/>
                </a:solidFill>
                <a:latin typeface="Oswald"/>
                <a:ea typeface="Oswald"/>
                <a:cs typeface="Oswald"/>
                <a:sym typeface="Oswald"/>
              </a:rPr>
              <a:t> Sales revenue reaches peak density during the second half of the year (July through December), driven by major monthly demand cycles rather than day-of-week fluctuations.</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High-Value Peak Windows:</a:t>
            </a:r>
            <a:r>
              <a:rPr lang="en-US" sz="3000">
                <a:solidFill>
                  <a:schemeClr val="lt2"/>
                </a:solidFill>
                <a:latin typeface="Oswald"/>
                <a:ea typeface="Oswald"/>
                <a:cs typeface="Oswald"/>
                <a:sym typeface="Oswald"/>
              </a:rPr>
              <a:t> Key operational windows—sp</a:t>
            </a:r>
            <a:r>
              <a:rPr lang="en-US" sz="3000">
                <a:solidFill>
                  <a:schemeClr val="lt2"/>
                </a:solidFill>
                <a:latin typeface="Oswald"/>
                <a:ea typeface="Oswald"/>
                <a:cs typeface="Oswald"/>
                <a:sym typeface="Oswald"/>
              </a:rPr>
              <a:t>ecifically July Fridays (₹3.18M), October Saturdays (₹3.18M), and December Thursdays (₹3.11M)—deliver </a:t>
            </a:r>
            <a:r>
              <a:rPr lang="en-US" sz="3000">
                <a:solidFill>
                  <a:schemeClr val="lt2"/>
                </a:solidFill>
                <a:latin typeface="Oswald"/>
                <a:ea typeface="Oswald"/>
                <a:cs typeface="Oswald"/>
                <a:sym typeface="Oswald"/>
              </a:rPr>
              <a:t>maximum revenue output and demand capacity.</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Complementary Demand Profile:</a:t>
            </a:r>
            <a:r>
              <a:rPr lang="en-US" sz="3000">
                <a:solidFill>
                  <a:schemeClr val="lt2"/>
                </a:solidFill>
                <a:latin typeface="Oswald"/>
                <a:ea typeface="Oswald"/>
                <a:cs typeface="Oswald"/>
                <a:sym typeface="Oswald"/>
              </a:rPr>
              <a:t> Upward-sloping cross-product correlation trends confirm zero product cannibalization; volume expansion in primary products (P1 &amp; P3) directly lifts volume in secondary offerings (P2 &amp; P4).</a:t>
            </a:r>
            <a:endParaRPr sz="3000">
              <a:solidFill>
                <a:schemeClr val="lt2"/>
              </a:solidFill>
              <a:latin typeface="Oswald"/>
              <a:ea typeface="Oswald"/>
              <a:cs typeface="Oswald"/>
              <a:sym typeface="Oswald"/>
            </a:endParaRPr>
          </a:p>
          <a:p>
            <a:pPr indent="-419100" lvl="0" marL="457200" rtl="0" algn="l">
              <a:lnSpc>
                <a:spcPct val="115000"/>
              </a:lnSpc>
              <a:spcBef>
                <a:spcPts val="0"/>
              </a:spcBef>
              <a:spcAft>
                <a:spcPts val="0"/>
              </a:spcAft>
              <a:buClr>
                <a:schemeClr val="lt2"/>
              </a:buClr>
              <a:buSzPts val="3000"/>
              <a:buFont typeface="Calibri"/>
              <a:buChar char="●"/>
            </a:pPr>
            <a:r>
              <a:rPr b="1" lang="en-US" sz="3000">
                <a:solidFill>
                  <a:schemeClr val="lt2"/>
                </a:solidFill>
                <a:latin typeface="Oswald"/>
                <a:ea typeface="Oswald"/>
                <a:cs typeface="Oswald"/>
                <a:sym typeface="Oswald"/>
              </a:rPr>
              <a:t>Strategic Growth Alignment:</a:t>
            </a:r>
            <a:r>
              <a:rPr lang="en-US" sz="3000">
                <a:solidFill>
                  <a:schemeClr val="lt2"/>
                </a:solidFill>
                <a:latin typeface="Oswald"/>
                <a:ea typeface="Oswald"/>
                <a:cs typeface="Oswald"/>
                <a:sym typeface="Oswald"/>
              </a:rPr>
              <a:t> Inventory replenishment, marketing spend, and product bundling strategies should be aggressively targeted toward H2 peak demand windows to capitalize on cross-product volume lift.</a:t>
            </a:r>
            <a:endParaRPr sz="3000">
              <a:solidFill>
                <a:schemeClr val="lt2"/>
              </a:solidFill>
              <a:latin typeface="Oswald"/>
              <a:ea typeface="Oswald"/>
              <a:cs typeface="Oswald"/>
              <a:sym typeface="Oswa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3" name="Shape 273"/>
        <p:cNvGrpSpPr/>
        <p:nvPr/>
      </p:nvGrpSpPr>
      <p:grpSpPr>
        <a:xfrm>
          <a:off x="0" y="0"/>
          <a:ext cx="0" cy="0"/>
          <a:chOff x="0" y="0"/>
          <a:chExt cx="0" cy="0"/>
        </a:xfrm>
      </p:grpSpPr>
      <p:sp>
        <p:nvSpPr>
          <p:cNvPr id="274" name="Google Shape;274;h948bc3b0446aeca_0_83"/>
          <p:cNvSpPr txBox="1"/>
          <p:nvPr/>
        </p:nvSpPr>
        <p:spPr>
          <a:xfrm>
            <a:off x="-20100" y="0"/>
            <a:ext cx="12232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800" u="sng">
                <a:solidFill>
                  <a:schemeClr val="lt2"/>
                </a:solidFill>
                <a:latin typeface="Oswald"/>
                <a:ea typeface="Oswald"/>
                <a:cs typeface="Oswald"/>
                <a:sym typeface="Oswald"/>
              </a:rPr>
              <a:t>Strategic Business Performance Overview</a:t>
            </a:r>
            <a:endParaRPr b="1" sz="2800" u="sng">
              <a:solidFill>
                <a:schemeClr val="lt2"/>
              </a:solidFill>
              <a:latin typeface="Oswald"/>
              <a:ea typeface="Oswald"/>
              <a:cs typeface="Oswald"/>
              <a:sym typeface="Oswald"/>
            </a:endParaRPr>
          </a:p>
        </p:txBody>
      </p:sp>
      <p:sp>
        <p:nvSpPr>
          <p:cNvPr id="275" name="Google Shape;275;h948bc3b0446aeca_0_83"/>
          <p:cNvSpPr txBox="1"/>
          <p:nvPr/>
        </p:nvSpPr>
        <p:spPr>
          <a:xfrm>
            <a:off x="0" y="716725"/>
            <a:ext cx="12192000" cy="56520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0"/>
              </a:spcBef>
              <a:spcAft>
                <a:spcPts val="0"/>
              </a:spcAft>
              <a:buClr>
                <a:schemeClr val="lt2"/>
              </a:buClr>
              <a:buSzPts val="2400"/>
              <a:buFont typeface="Calibri"/>
              <a:buChar char="●"/>
            </a:pPr>
            <a:r>
              <a:rPr b="1" lang="en-US" sz="2400">
                <a:solidFill>
                  <a:schemeClr val="lt2"/>
                </a:solidFill>
                <a:latin typeface="Oswald"/>
                <a:ea typeface="Oswald"/>
                <a:cs typeface="Oswald"/>
                <a:sym typeface="Oswald"/>
              </a:rPr>
              <a:t>Stable Macro Growth Baseline:</a:t>
            </a:r>
            <a:r>
              <a:rPr lang="en-US" sz="2400">
                <a:solidFill>
                  <a:schemeClr val="lt2"/>
                </a:solidFill>
                <a:latin typeface="Oswald"/>
                <a:ea typeface="Oswald"/>
                <a:cs typeface="Oswald"/>
                <a:sym typeface="Oswald"/>
              </a:rPr>
              <a:t> Total combined revenue maintains a resilient long-term foundation between ₹1.4M and ₹1.7M monthly, with standard month-over-month growth bounded predictably between -18% and +25%.</a:t>
            </a:r>
            <a:endParaRPr sz="2400">
              <a:solidFill>
                <a:schemeClr val="lt2"/>
              </a:solidFill>
              <a:latin typeface="Oswald"/>
              <a:ea typeface="Oswald"/>
              <a:cs typeface="Oswald"/>
              <a:sym typeface="Oswald"/>
            </a:endParaRPr>
          </a:p>
          <a:p>
            <a:pPr indent="-381000" lvl="0" marL="457200" rtl="0" algn="l">
              <a:lnSpc>
                <a:spcPct val="115000"/>
              </a:lnSpc>
              <a:spcBef>
                <a:spcPts val="0"/>
              </a:spcBef>
              <a:spcAft>
                <a:spcPts val="0"/>
              </a:spcAft>
              <a:buClr>
                <a:schemeClr val="lt2"/>
              </a:buClr>
              <a:buSzPts val="2400"/>
              <a:buFont typeface="Calibri"/>
              <a:buChar char="●"/>
            </a:pPr>
            <a:r>
              <a:rPr b="1" lang="en-US" sz="2400">
                <a:solidFill>
                  <a:schemeClr val="lt2"/>
                </a:solidFill>
                <a:latin typeface="Oswald"/>
                <a:ea typeface="Oswald"/>
                <a:cs typeface="Oswald"/>
                <a:sym typeface="Oswald"/>
              </a:rPr>
              <a:t>Optimal Revenue Realization (P3 Leader):</a:t>
            </a:r>
            <a:r>
              <a:rPr lang="en-US" sz="2400">
                <a:solidFill>
                  <a:schemeClr val="lt2"/>
                </a:solidFill>
                <a:latin typeface="Oswald"/>
                <a:ea typeface="Oswald"/>
                <a:cs typeface="Oswald"/>
                <a:sym typeface="Oswald"/>
              </a:rPr>
              <a:t> Product 3 hits the portfolio's ideal pricing "sweet spot" at ₹5.42/unit, driving ₹78.4M in total revenue on 14.5M units sold.</a:t>
            </a:r>
            <a:endParaRPr sz="2400">
              <a:solidFill>
                <a:schemeClr val="lt2"/>
              </a:solidFill>
              <a:latin typeface="Oswald"/>
              <a:ea typeface="Oswald"/>
              <a:cs typeface="Oswald"/>
              <a:sym typeface="Oswald"/>
            </a:endParaRPr>
          </a:p>
          <a:p>
            <a:pPr indent="-381000" lvl="0" marL="457200" rtl="0" algn="l">
              <a:lnSpc>
                <a:spcPct val="115000"/>
              </a:lnSpc>
              <a:spcBef>
                <a:spcPts val="0"/>
              </a:spcBef>
              <a:spcAft>
                <a:spcPts val="0"/>
              </a:spcAft>
              <a:buClr>
                <a:schemeClr val="lt2"/>
              </a:buClr>
              <a:buSzPts val="2400"/>
              <a:buFont typeface="Calibri"/>
              <a:buChar char="●"/>
            </a:pPr>
            <a:r>
              <a:rPr b="1" lang="en-US" sz="2400">
                <a:solidFill>
                  <a:schemeClr val="lt2"/>
                </a:solidFill>
                <a:latin typeface="Oswald"/>
                <a:ea typeface="Oswald"/>
                <a:cs typeface="Oswald"/>
                <a:sym typeface="Oswald"/>
              </a:rPr>
              <a:t>High-Volume vs. High-Margin Balance:</a:t>
            </a:r>
            <a:r>
              <a:rPr lang="en-US" sz="2400">
                <a:solidFill>
                  <a:schemeClr val="lt2"/>
                </a:solidFill>
                <a:latin typeface="Oswald"/>
                <a:ea typeface="Oswald"/>
                <a:cs typeface="Oswald"/>
                <a:sym typeface="Oswald"/>
              </a:rPr>
              <a:t> Product 1 acts as the primary volume driver (19M units at ₹3.17), while Product 2 achieves equal revenue scale (₹62.1M) on half the unit volume (9.8M units) due to premium pricing (₹6.34).</a:t>
            </a:r>
            <a:endParaRPr sz="2400">
              <a:solidFill>
                <a:schemeClr val="lt2"/>
              </a:solidFill>
              <a:latin typeface="Oswald"/>
              <a:ea typeface="Oswald"/>
              <a:cs typeface="Oswald"/>
              <a:sym typeface="Oswald"/>
            </a:endParaRPr>
          </a:p>
          <a:p>
            <a:pPr indent="-381000" lvl="0" marL="457200" rtl="0" algn="l">
              <a:lnSpc>
                <a:spcPct val="115000"/>
              </a:lnSpc>
              <a:spcBef>
                <a:spcPts val="0"/>
              </a:spcBef>
              <a:spcAft>
                <a:spcPts val="0"/>
              </a:spcAft>
              <a:buClr>
                <a:schemeClr val="lt2"/>
              </a:buClr>
              <a:buSzPts val="2400"/>
              <a:buFont typeface="Calibri"/>
              <a:buChar char="●"/>
            </a:pPr>
            <a:r>
              <a:rPr b="1" lang="en-US" sz="2400">
                <a:solidFill>
                  <a:schemeClr val="lt2"/>
                </a:solidFill>
                <a:latin typeface="Oswald"/>
                <a:ea typeface="Oswald"/>
                <a:cs typeface="Oswald"/>
                <a:sym typeface="Oswald"/>
              </a:rPr>
              <a:t>Predictable Transaction Sizing:</a:t>
            </a:r>
            <a:r>
              <a:rPr lang="en-US" sz="2400">
                <a:solidFill>
                  <a:schemeClr val="lt2"/>
                </a:solidFill>
                <a:latin typeface="Oswald"/>
                <a:ea typeface="Oswald"/>
                <a:cs typeface="Oswald"/>
                <a:sym typeface="Oswald"/>
              </a:rPr>
              <a:t> Order values follow a normal bell-curve distribution centered around a peak mode of ₹54K–₹55K per order, with core orders clustering tightly between ₹35K and ₹68K.</a:t>
            </a:r>
            <a:endParaRPr sz="2400">
              <a:solidFill>
                <a:schemeClr val="lt2"/>
              </a:solidFill>
              <a:latin typeface="Oswald"/>
              <a:ea typeface="Oswald"/>
              <a:cs typeface="Oswald"/>
              <a:sym typeface="Oswald"/>
            </a:endParaRPr>
          </a:p>
          <a:p>
            <a:pPr indent="-381000" lvl="0" marL="457200" rtl="0" algn="l">
              <a:lnSpc>
                <a:spcPct val="115000"/>
              </a:lnSpc>
              <a:spcBef>
                <a:spcPts val="0"/>
              </a:spcBef>
              <a:spcAft>
                <a:spcPts val="0"/>
              </a:spcAft>
              <a:buClr>
                <a:schemeClr val="lt2"/>
              </a:buClr>
              <a:buSzPts val="2400"/>
              <a:buFont typeface="Calibri"/>
              <a:buChar char="●"/>
            </a:pPr>
            <a:r>
              <a:rPr b="1" lang="en-US" sz="2400">
                <a:solidFill>
                  <a:schemeClr val="lt2"/>
                </a:solidFill>
                <a:latin typeface="Oswald"/>
                <a:ea typeface="Oswald"/>
                <a:cs typeface="Oswald"/>
                <a:sym typeface="Oswald"/>
              </a:rPr>
              <a:t>H2 Seasonal Upside &amp; Portfolio Synergy:</a:t>
            </a:r>
            <a:r>
              <a:rPr lang="en-US" sz="2400">
                <a:solidFill>
                  <a:schemeClr val="lt2"/>
                </a:solidFill>
                <a:latin typeface="Oswald"/>
                <a:ea typeface="Oswald"/>
                <a:cs typeface="Oswald"/>
                <a:sym typeface="Oswald"/>
              </a:rPr>
              <a:t> Revenue reaches peak density during H2 (July–December), with key windows exceeding ₹3.18M per cell. Positive cross-product volume correlation confirms zero product cannibalization.</a:t>
            </a:r>
            <a:endParaRPr sz="2400">
              <a:solidFill>
                <a:schemeClr val="lt2"/>
              </a:solidFill>
              <a:latin typeface="Oswald"/>
              <a:ea typeface="Oswald"/>
              <a:cs typeface="Oswald"/>
              <a:sym typeface="Oswa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9" name="Shape 279"/>
        <p:cNvGrpSpPr/>
        <p:nvPr/>
      </p:nvGrpSpPr>
      <p:grpSpPr>
        <a:xfrm>
          <a:off x="0" y="0"/>
          <a:ext cx="0" cy="0"/>
          <a:chOff x="0" y="0"/>
          <a:chExt cx="0" cy="0"/>
        </a:xfrm>
      </p:grpSpPr>
      <p:sp>
        <p:nvSpPr>
          <p:cNvPr id="280" name="Google Shape;280;h948bc3b0446aeca_0_91"/>
          <p:cNvSpPr txBox="1"/>
          <p:nvPr/>
        </p:nvSpPr>
        <p:spPr>
          <a:xfrm>
            <a:off x="0" y="0"/>
            <a:ext cx="12192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800" u="sng">
                <a:solidFill>
                  <a:schemeClr val="lt2"/>
                </a:solidFill>
                <a:latin typeface="Oswald"/>
                <a:ea typeface="Oswald"/>
                <a:cs typeface="Oswald"/>
                <a:sym typeface="Oswald"/>
              </a:rPr>
              <a:t>Recommendation For Growth</a:t>
            </a:r>
            <a:endParaRPr b="1" sz="2800" u="sng">
              <a:solidFill>
                <a:schemeClr val="lt2"/>
              </a:solidFill>
              <a:latin typeface="Oswald"/>
              <a:ea typeface="Oswald"/>
              <a:cs typeface="Oswald"/>
              <a:sym typeface="Oswald"/>
            </a:endParaRPr>
          </a:p>
        </p:txBody>
      </p:sp>
      <p:sp>
        <p:nvSpPr>
          <p:cNvPr id="281" name="Google Shape;281;h948bc3b0446aeca_0_91"/>
          <p:cNvSpPr txBox="1"/>
          <p:nvPr/>
        </p:nvSpPr>
        <p:spPr>
          <a:xfrm>
            <a:off x="64400" y="1138650"/>
            <a:ext cx="12192000" cy="45807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lt2"/>
              </a:buClr>
              <a:buSzPts val="2800"/>
              <a:buFont typeface="Calibri"/>
              <a:buAutoNum type="arabicPeriod"/>
            </a:pPr>
            <a:r>
              <a:rPr b="1" lang="en-US" sz="2800">
                <a:solidFill>
                  <a:schemeClr val="lt2"/>
                </a:solidFill>
                <a:latin typeface="Oswald"/>
                <a:ea typeface="Oswald"/>
                <a:cs typeface="Oswald"/>
                <a:sym typeface="Oswald"/>
              </a:rPr>
              <a:t>Strategic Scaling for Product 4:</a:t>
            </a:r>
            <a:r>
              <a:rPr lang="en-US" sz="2800">
                <a:solidFill>
                  <a:schemeClr val="lt2"/>
                </a:solidFill>
                <a:latin typeface="Oswald"/>
                <a:ea typeface="Oswald"/>
                <a:cs typeface="Oswald"/>
                <a:sym typeface="Oswald"/>
              </a:rPr>
              <a:t> Expand marketing and distribution for Product 4. Although it commands the highest price point (₹7.13), it generates the lowest unit sales (5.2M), presenting significant untapped revenue upside.</a:t>
            </a:r>
            <a:endParaRPr sz="2800">
              <a:solidFill>
                <a:schemeClr val="lt2"/>
              </a:solidFill>
              <a:latin typeface="Oswald"/>
              <a:ea typeface="Oswald"/>
              <a:cs typeface="Oswald"/>
              <a:sym typeface="Oswald"/>
            </a:endParaRPr>
          </a:p>
          <a:p>
            <a:pPr indent="-406400" lvl="0" marL="457200" rtl="0" algn="l">
              <a:lnSpc>
                <a:spcPct val="115000"/>
              </a:lnSpc>
              <a:spcBef>
                <a:spcPts val="0"/>
              </a:spcBef>
              <a:spcAft>
                <a:spcPts val="0"/>
              </a:spcAft>
              <a:buClr>
                <a:schemeClr val="lt2"/>
              </a:buClr>
              <a:buSzPts val="2800"/>
              <a:buFont typeface="Calibri"/>
              <a:buAutoNum type="arabicPeriod"/>
            </a:pPr>
            <a:r>
              <a:rPr b="1" lang="en-US" sz="2800">
                <a:solidFill>
                  <a:schemeClr val="lt2"/>
                </a:solidFill>
                <a:latin typeface="Oswald"/>
                <a:ea typeface="Oswald"/>
                <a:cs typeface="Oswald"/>
                <a:sym typeface="Oswald"/>
              </a:rPr>
              <a:t>Capitalize on H2 Peak Demand:</a:t>
            </a:r>
            <a:r>
              <a:rPr lang="en-US" sz="2800">
                <a:solidFill>
                  <a:schemeClr val="lt2"/>
                </a:solidFill>
                <a:latin typeface="Oswald"/>
                <a:ea typeface="Oswald"/>
                <a:cs typeface="Oswald"/>
                <a:sym typeface="Oswald"/>
              </a:rPr>
              <a:t> Shift inventory provisioning, logistics capacity, and promotional campaigns heavily into Q3 and Q4 to maximize output during peak operational windows (July Fridays, October Saturdays, December Thursdays).</a:t>
            </a:r>
            <a:endParaRPr sz="2800">
              <a:solidFill>
                <a:schemeClr val="lt2"/>
              </a:solidFill>
              <a:latin typeface="Oswald"/>
              <a:ea typeface="Oswald"/>
              <a:cs typeface="Oswald"/>
              <a:sym typeface="Oswald"/>
            </a:endParaRPr>
          </a:p>
          <a:p>
            <a:pPr indent="-406400" lvl="0" marL="457200" rtl="0" algn="l">
              <a:lnSpc>
                <a:spcPct val="115000"/>
              </a:lnSpc>
              <a:spcBef>
                <a:spcPts val="0"/>
              </a:spcBef>
              <a:spcAft>
                <a:spcPts val="0"/>
              </a:spcAft>
              <a:buClr>
                <a:schemeClr val="lt2"/>
              </a:buClr>
              <a:buSzPts val="2800"/>
              <a:buFont typeface="Calibri"/>
              <a:buAutoNum type="arabicPeriod"/>
            </a:pPr>
            <a:r>
              <a:rPr b="1" lang="en-US" sz="2800">
                <a:solidFill>
                  <a:schemeClr val="lt2"/>
                </a:solidFill>
                <a:latin typeface="Oswald"/>
                <a:ea typeface="Oswald"/>
                <a:cs typeface="Oswald"/>
                <a:sym typeface="Oswald"/>
              </a:rPr>
              <a:t>Cross-Selling &amp; Product Bundling:</a:t>
            </a:r>
            <a:r>
              <a:rPr lang="en-US" sz="2800">
                <a:solidFill>
                  <a:schemeClr val="lt2"/>
                </a:solidFill>
                <a:latin typeface="Oswald"/>
                <a:ea typeface="Oswald"/>
                <a:cs typeface="Oswald"/>
                <a:sym typeface="Oswald"/>
              </a:rPr>
              <a:t> Leverage the strong positive volume correlation across product lines by bundling high-volume entry products (P1) with high-margin offerings (P2 &amp; P4) during seasonal peak cycles.</a:t>
            </a:r>
            <a:endParaRPr sz="2800">
              <a:solidFill>
                <a:schemeClr val="lt2"/>
              </a:solidFill>
              <a:latin typeface="Oswald"/>
              <a:ea typeface="Oswald"/>
              <a:cs typeface="Oswald"/>
              <a:sym typeface="Oswa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2026-10-13T07:51:58Z</dcterms:created>
</cp:coreProperties>
</file>